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strument Sans Medium"/>
      <p:regular r:id="rId20"/>
      <p:bold r:id="rId21"/>
      <p:italic r:id="rId22"/>
      <p:boldItalic r:id="rId23"/>
    </p:embeddedFont>
    <p:embeddedFont>
      <p:font typeface="Instrument Sans SemiBold"/>
      <p:regular r:id="rId24"/>
      <p:bold r:id="rId25"/>
      <p:italic r:id="rId26"/>
      <p:boldItalic r:id="rId27"/>
    </p:embeddedFont>
    <p:embeddedFont>
      <p:font typeface="Outfit"/>
      <p:regular r:id="rId28"/>
      <p:bold r:id="rId29"/>
    </p:embeddedFont>
    <p:embeddedFont>
      <p:font typeface="Instrument Sans"/>
      <p:regular r:id="rId30"/>
      <p:bold r:id="rId31"/>
      <p:italic r:id="rId32"/>
      <p:boldItalic r:id="rId33"/>
    </p:embeddedFont>
    <p:embeddedFont>
      <p:font typeface="Outfi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strumentSans-bold.fntdata"/><Relationship Id="rId30" Type="http://schemas.openxmlformats.org/officeDocument/2006/relationships/font" Target="fonts/InstrumentSans-regular.fntdata"/><Relationship Id="rId33" Type="http://schemas.openxmlformats.org/officeDocument/2006/relationships/font" Target="fonts/InstrumentSans-boldItalic.fntdata"/><Relationship Id="rId32" Type="http://schemas.openxmlformats.org/officeDocument/2006/relationships/font" Target="fonts/InstrumentSans-italic.fntdata"/><Relationship Id="rId35" Type="http://schemas.openxmlformats.org/officeDocument/2006/relationships/font" Target="fonts/OutfitSemiBold-bold.fntdata"/><Relationship Id="rId34" Type="http://schemas.openxmlformats.org/officeDocument/2006/relationships/font" Target="fonts/OutfitSemiBold-regular.fntdata"/><Relationship Id="rId20" Type="http://schemas.openxmlformats.org/officeDocument/2006/relationships/font" Target="fonts/InstrumentSansMedium-regular.fntdata"/><Relationship Id="rId22" Type="http://schemas.openxmlformats.org/officeDocument/2006/relationships/font" Target="fonts/InstrumentSansMedium-italic.fntdata"/><Relationship Id="rId21" Type="http://schemas.openxmlformats.org/officeDocument/2006/relationships/font" Target="fonts/InstrumentSansMedium-bold.fntdata"/><Relationship Id="rId24" Type="http://schemas.openxmlformats.org/officeDocument/2006/relationships/font" Target="fonts/InstrumentSansSemiBold-regular.fntdata"/><Relationship Id="rId23" Type="http://schemas.openxmlformats.org/officeDocument/2006/relationships/font" Target="fonts/InstrumentSansMedium-boldItalic.fntdata"/><Relationship Id="rId26" Type="http://schemas.openxmlformats.org/officeDocument/2006/relationships/font" Target="fonts/InstrumentSansSemiBold-italic.fntdata"/><Relationship Id="rId25" Type="http://schemas.openxmlformats.org/officeDocument/2006/relationships/font" Target="fonts/InstrumentSansSemiBold-bold.fntdata"/><Relationship Id="rId28" Type="http://schemas.openxmlformats.org/officeDocument/2006/relationships/font" Target="fonts/Outfit-regular.fntdata"/><Relationship Id="rId27" Type="http://schemas.openxmlformats.org/officeDocument/2006/relationships/font" Target="fonts/InstrumentSansSemiBold-boldItalic.fntdata"/><Relationship Id="rId29" Type="http://schemas.openxmlformats.org/officeDocument/2006/relationships/font" Target="fonts/Outfi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470448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b470448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44151a1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44151a1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44151a1e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44151a1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44151a1e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44151a1e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44151a1e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44151a1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44151a1e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44151a1e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44151a1e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44151a1e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44151a1e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44151a1e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44151a1e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44151a1e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44151a1e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44151a1e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44151a1e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44151a1e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44151a1e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44151a1e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44151a1e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44151a1e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" name="Google Shape;55;p14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17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8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7" name="Google Shape;77;p18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" name="Google Shape;81;p19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3" name="Google Shape;83;p19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4" name="Google Shape;104;p20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5" name="Google Shape;105;p20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4" name="Google Shape;114;p21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21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6" name="Google Shape;116;p21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7" name="Google Shape;117;p21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5" name="Google Shape;125;p22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23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0" name="Google Shape;130;p23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" name="Google Shape;131;p23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2" name="Google Shape;132;p23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5" name="Google Shape;135;p23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23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6" name="Google Shape;146;p24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7" name="Google Shape;147;p24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1" name="Google Shape;151;p25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3" name="Google Shape;153;p25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25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7" name="Google Shape;157;p25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9" name="Google Shape;159;p25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0" name="Google Shape;160;p25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p26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26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" name="Google Shape;165;p26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26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67" name="Google Shape;167;p26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68" name="Google Shape;168;p26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69" name="Google Shape;169;p26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26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6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6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6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4" name="Google Shape;174;p26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27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8" name="Google Shape;178;p27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0" name="Google Shape;180;p27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1" name="Google Shape;181;p27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2" name="Google Shape;182;p27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3" name="Google Shape;183;p27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4" name="Google Shape;184;p27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5" name="Google Shape;185;p27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6" name="Google Shape;186;p27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" name="Google Shape;187;p27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8" name="Google Shape;188;p27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9" name="Google Shape;189;p27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90" name="Google Shape;190;p27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28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8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28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6" name="Google Shape;196;p28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28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8" name="Google Shape;198;p28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99" name="Google Shape;199;p28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0" name="Google Shape;200;p28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1" name="Google Shape;201;p28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2" name="Google Shape;202;p2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3" name="Google Shape;203;p2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7" name="Google Shape;207;p29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8" name="Google Shape;208;p29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9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0" name="Google Shape;210;p29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1" name="Google Shape;211;p29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2" name="Google Shape;212;p29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29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4" name="Google Shape;214;p29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9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6" name="Google Shape;216;p29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29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29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2" name="Google Shape;222;p30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4" name="Google Shape;224;p30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7" name="Google Shape;227;p30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8" name="Google Shape;228;p30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9" name="Google Shape;229;p30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0" name="Google Shape;230;p30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231" name="Google Shape;231;p30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2" name="Google Shape;232;p30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5" name="Google Shape;235;p31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7" name="Google Shape;237;p31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1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0" name="Google Shape;240;p31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31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1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6" name="Google Shape;246;p31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8" name="Google Shape;248;p31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3" name="Google Shape;253;p32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4" name="Google Shape;254;p32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5" name="Google Shape;255;p32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6" name="Google Shape;256;p32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8" name="Google Shape;258;p32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59" name="Google Shape;259;p3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60" name="Google Shape;260;p3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4" name="Google Shape;264;p33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6" name="Google Shape;266;p33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9" name="Google Shape;269;p33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7" name="Google Shape;277;p34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34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80" name="Google Shape;280;p34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3" name="Google Shape;283;p35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5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5" name="Google Shape;285;p35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6" name="Google Shape;286;p35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7" name="Google Shape;287;p35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8" name="Google Shape;288;p35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9" name="Google Shape;289;p35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1" name="Google Shape;291;p35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35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5" name="Google Shape;295;p36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6" name="Google Shape;296;p36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7" name="Google Shape;297;p36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6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9" name="Google Shape;299;p36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00" name="Google Shape;300;p3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01" name="Google Shape;301;p36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36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4" name="Google Shape;304;p36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5" name="Google Shape;305;p36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6" name="Google Shape;306;p36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309" name="Google Shape;309;p37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0" name="Google Shape;310;p37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1" name="Google Shape;311;p37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2" name="Google Shape;312;p37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3" name="Google Shape;313;p37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4" name="Google Shape;314;p37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8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8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8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38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38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4" name="Google Shape;324;p38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38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1" name="Google Shape;331;p39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332" name="Google Shape;332;p39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3" name="Google Shape;333;p39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39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5" name="Google Shape;335;p3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6" name="Google Shape;336;p3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7" name="Google Shape;337;p39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43" name="Google Shape;343;p40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4" name="Google Shape;344;p40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5" name="Google Shape;345;p40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6" name="Google Shape;346;p40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7" name="Google Shape;347;p40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8" name="Google Shape;348;p40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9" name="Google Shape;349;p40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0" name="Google Shape;350;p40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1" name="Google Shape;351;p40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2" name="Google Shape;352;p40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4" name="Google Shape;354;p40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6" name="Google Shape;356;p40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8" name="Google Shape;358;p40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1" name="Google Shape;36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6" name="Google Shape;36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0" name="Google Shape;38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1" name="Google Shape;38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6" name="Google Shape;386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0" name="Google Shape;390;p5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5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5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5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5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5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5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2" name="Google Shape;402;p5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5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5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0" name="Google Shape;420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26" name="Google Shape;426;p5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33" name="Google Shape;433;p5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5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43" name="Google Shape;443;p5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4" name="Google Shape;444;p5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5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6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6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6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6" name="Google Shape;456;p6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6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github.com/MSaad-data/E-commerce-Customer-Churn-Analysis-Persona-Building-Excel_Project-/tree/ma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1188050" y="575175"/>
            <a:ext cx="5012100" cy="16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E-commerce Customer Churn Analysis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Data-Driven Buyer Personas for Retention</a:t>
            </a:r>
            <a:endParaRPr sz="2400"/>
          </a:p>
        </p:txBody>
      </p:sp>
      <p:sp>
        <p:nvSpPr>
          <p:cNvPr id="464" name="Google Shape;464;p62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65" name="Google Shape;465;p62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66" name="Google Shape;466;p62"/>
          <p:cNvSpPr/>
          <p:nvPr/>
        </p:nvSpPr>
        <p:spPr>
          <a:xfrm>
            <a:off x="763900" y="2348725"/>
            <a:ext cx="5968500" cy="92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strument Sans"/>
                <a:ea typeface="Instrument Sans"/>
                <a:cs typeface="Instrument Sans"/>
                <a:sym typeface="Instrument Sans"/>
              </a:rPr>
              <a:t>Objective: </a:t>
            </a: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Use customer behavior and engagement data to explain why churn happens and how to reduce it.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7" name="Google Shape;467;p62"/>
          <p:cNvSpPr/>
          <p:nvPr/>
        </p:nvSpPr>
        <p:spPr>
          <a:xfrm>
            <a:off x="763900" y="3740325"/>
            <a:ext cx="1794600" cy="62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ighlight>
                  <a:schemeClr val="accent2"/>
                </a:highlight>
                <a:latin typeface="Instrument Sans"/>
                <a:ea typeface="Instrument Sans"/>
                <a:cs typeface="Instrument Sans"/>
                <a:sym typeface="Instrument Sans"/>
                <a:hlinkClick r:id="rId4"/>
              </a:rPr>
              <a:t>Github Project link</a:t>
            </a:r>
            <a:endParaRPr sz="800">
              <a:highlight>
                <a:schemeClr val="accent2"/>
              </a:highlight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D999D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Dataset &amp; Problem</a:t>
            </a:r>
            <a:endParaRPr b="1" sz="2500"/>
          </a:p>
        </p:txBody>
      </p:sp>
      <p:sp>
        <p:nvSpPr>
          <p:cNvPr id="473" name="Google Shape;47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50,000 customers from a global e-commerce + subscription platform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25 features: behavior, engagement, purchases, support, value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Binary churn indicator (Churned vs Loyal)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Retention matters more than acquisition cost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question: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Why do customers with </a:t>
            </a:r>
            <a:r>
              <a:rPr b="1" lang="en" sz="1300">
                <a:solidFill>
                  <a:schemeClr val="dk1"/>
                </a:solidFill>
              </a:rPr>
              <a:t>real spending power</a:t>
            </a:r>
            <a:r>
              <a:rPr lang="en" sz="1300">
                <a:solidFill>
                  <a:schemeClr val="dk1"/>
                </a:solidFill>
              </a:rPr>
              <a:t> still churn?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D999D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Why Buyer Personas (Retention Lens)</a:t>
            </a:r>
            <a:endParaRPr/>
          </a:p>
        </p:txBody>
      </p:sp>
      <p:sp>
        <p:nvSpPr>
          <p:cNvPr id="479" name="Google Shape;479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Numbers alone don’t explain churn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Personas turn metrics into </a:t>
            </a:r>
            <a:r>
              <a:rPr b="1" lang="en" sz="1400">
                <a:solidFill>
                  <a:schemeClr val="dk1"/>
                </a:solidFill>
              </a:rPr>
              <a:t>clear customer stories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Help teams spot </a:t>
            </a:r>
            <a:r>
              <a:rPr b="1" lang="en" sz="1400">
                <a:solidFill>
                  <a:schemeClr val="dk1"/>
                </a:solidFill>
              </a:rPr>
              <a:t>early churn signals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 </a:t>
            </a:r>
            <a:r>
              <a:rPr b="1" lang="en" sz="1400">
                <a:solidFill>
                  <a:schemeClr val="dk1"/>
                </a:solidFill>
              </a:rPr>
              <a:t>targeted retention actions</a:t>
            </a:r>
            <a:r>
              <a:rPr lang="en" sz="1400">
                <a:solidFill>
                  <a:schemeClr val="dk1"/>
                </a:solidFill>
              </a:rPr>
              <a:t>, not assumptions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Goal: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Move from </a:t>
            </a:r>
            <a:r>
              <a:rPr i="1" lang="en" sz="1400">
                <a:solidFill>
                  <a:schemeClr val="dk1"/>
                </a:solidFill>
              </a:rPr>
              <a:t>“what happened”</a:t>
            </a:r>
            <a:r>
              <a:rPr lang="en" sz="1400">
                <a:solidFill>
                  <a:schemeClr val="dk1"/>
                </a:solidFill>
              </a:rPr>
              <a:t> → </a:t>
            </a:r>
            <a:r>
              <a:rPr i="1" lang="en" sz="1400">
                <a:solidFill>
                  <a:schemeClr val="dk1"/>
                </a:solidFill>
              </a:rPr>
              <a:t>“what to do next”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5"/>
          <p:cNvSpPr txBox="1"/>
          <p:nvPr>
            <p:ph type="title"/>
          </p:nvPr>
        </p:nvSpPr>
        <p:spPr>
          <a:xfrm>
            <a:off x="311700" y="123550"/>
            <a:ext cx="8520600" cy="572700"/>
          </a:xfrm>
          <a:prstGeom prst="rect">
            <a:avLst/>
          </a:prstGeom>
          <a:solidFill>
            <a:srgbClr val="D999D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Methodology (How This Was Built)</a:t>
            </a:r>
            <a:endParaRPr/>
          </a:p>
        </p:txBody>
      </p:sp>
      <p:sp>
        <p:nvSpPr>
          <p:cNvPr id="485" name="Google Shape;485;p65"/>
          <p:cNvSpPr txBox="1"/>
          <p:nvPr>
            <p:ph idx="1" type="body"/>
          </p:nvPr>
        </p:nvSpPr>
        <p:spPr>
          <a:xfrm>
            <a:off x="311700" y="696250"/>
            <a:ext cx="8520600" cy="3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Analysis done in </a:t>
            </a:r>
            <a:r>
              <a:rPr b="1" lang="en" sz="3163">
                <a:solidFill>
                  <a:schemeClr val="dk1"/>
                </a:solidFill>
              </a:rPr>
              <a:t>Excel</a:t>
            </a:r>
            <a:r>
              <a:rPr lang="en" sz="3163">
                <a:solidFill>
                  <a:schemeClr val="dk1"/>
                </a:solidFill>
              </a:rPr>
              <a:t> using pivot tables</a:t>
            </a:r>
            <a:br>
              <a:rPr lang="en" sz="3163">
                <a:solidFill>
                  <a:schemeClr val="dk1"/>
                </a:solidFill>
              </a:rPr>
            </a:br>
            <a:endParaRPr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Customers segmented by </a:t>
            </a:r>
            <a:r>
              <a:rPr b="1" lang="en" sz="3163">
                <a:solidFill>
                  <a:schemeClr val="dk1"/>
                </a:solidFill>
              </a:rPr>
              <a:t>Churn_Status</a:t>
            </a:r>
            <a:br>
              <a:rPr b="1" lang="en" sz="3163">
                <a:solidFill>
                  <a:schemeClr val="dk1"/>
                </a:solidFill>
              </a:rPr>
            </a:br>
            <a:endParaRPr b="1"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Compared </a:t>
            </a:r>
            <a:r>
              <a:rPr b="1" lang="en" sz="3163">
                <a:solidFill>
                  <a:schemeClr val="dk1"/>
                </a:solidFill>
              </a:rPr>
              <a:t>averages, counts, and percentages</a:t>
            </a:r>
            <a:endParaRPr b="1" sz="3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768"/>
              <a:buFont typeface="Arial"/>
              <a:buNone/>
            </a:pPr>
            <a:r>
              <a:rPr b="1" lang="en" sz="3163">
                <a:solidFill>
                  <a:schemeClr val="dk1"/>
                </a:solidFill>
              </a:rPr>
              <a:t>Four persona layers used together:</a:t>
            </a:r>
            <a:endParaRPr b="1"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Behavioral (logins, sessions, purchases)</a:t>
            </a:r>
            <a:br>
              <a:rPr lang="en" sz="3163">
                <a:solidFill>
                  <a:schemeClr val="dk1"/>
                </a:solidFill>
              </a:rPr>
            </a:br>
            <a:endParaRPr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Engagement (email, support, social, app)</a:t>
            </a:r>
            <a:br>
              <a:rPr lang="en" sz="3163">
                <a:solidFill>
                  <a:schemeClr val="dk1"/>
                </a:solidFill>
              </a:rPr>
            </a:br>
            <a:endParaRPr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Value (AOV, LTV, purchases)</a:t>
            </a:r>
            <a:br>
              <a:rPr lang="en" sz="3163">
                <a:solidFill>
                  <a:schemeClr val="dk1"/>
                </a:solidFill>
              </a:rPr>
            </a:br>
            <a:endParaRPr sz="3163">
              <a:solidFill>
                <a:schemeClr val="dk1"/>
              </a:solidFill>
            </a:endParaRPr>
          </a:p>
          <a:p>
            <a:pPr indent="-308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163">
                <a:solidFill>
                  <a:schemeClr val="dk1"/>
                </a:solidFill>
              </a:rPr>
              <a:t>Categorical (gender, country, signup quarter)</a:t>
            </a:r>
            <a:endParaRPr sz="3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768"/>
              <a:buFont typeface="Arial"/>
              <a:buNone/>
            </a:pPr>
            <a:r>
              <a:rPr i="1" lang="en" sz="3163">
                <a:solidFill>
                  <a:schemeClr val="dk1"/>
                </a:solidFill>
              </a:rPr>
              <a:t>Missing values were left untouched to avoid assumptions.</a:t>
            </a:r>
            <a:endParaRPr i="1" sz="3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6"/>
          <p:cNvSpPr txBox="1"/>
          <p:nvPr>
            <p:ph type="title"/>
          </p:nvPr>
        </p:nvSpPr>
        <p:spPr>
          <a:xfrm>
            <a:off x="311700" y="133300"/>
            <a:ext cx="8520600" cy="572700"/>
          </a:xfrm>
          <a:prstGeom prst="rect">
            <a:avLst/>
          </a:prstGeom>
          <a:solidFill>
            <a:srgbClr val="9AD69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Churned Buyer Persona (Who Leaves)</a:t>
            </a:r>
            <a:endParaRPr/>
          </a:p>
        </p:txBody>
      </p:sp>
      <p:sp>
        <p:nvSpPr>
          <p:cNvPr id="491" name="Google Shape;491;p66"/>
          <p:cNvSpPr txBox="1"/>
          <p:nvPr>
            <p:ph idx="1" type="body"/>
          </p:nvPr>
        </p:nvSpPr>
        <p:spPr>
          <a:xfrm>
            <a:off x="2423100" y="845375"/>
            <a:ext cx="4297800" cy="41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314"/>
              <a:buFont typeface="Arial"/>
              <a:buNone/>
            </a:pPr>
            <a:r>
              <a:rPr b="1" lang="en" sz="2539">
                <a:solidFill>
                  <a:schemeClr val="dk1"/>
                </a:solidFill>
              </a:rPr>
              <a:t>Behavior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9.12 logins / month</a:t>
            </a:r>
            <a:endParaRPr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23.69 min per session</a:t>
            </a:r>
            <a:endParaRPr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7.37 pages per visit</a:t>
            </a:r>
            <a:endParaRPr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Purchases every </a:t>
            </a:r>
            <a:r>
              <a:rPr b="1" lang="en" sz="2539">
                <a:solidFill>
                  <a:schemeClr val="dk1"/>
                </a:solidFill>
              </a:rPr>
              <a:t>36.94 days</a:t>
            </a:r>
            <a:endParaRPr b="1" sz="253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314"/>
              <a:buFont typeface="Arial"/>
              <a:buNone/>
            </a:pPr>
            <a:r>
              <a:rPr b="1" lang="en" sz="2539">
                <a:solidFill>
                  <a:schemeClr val="dk1"/>
                </a:solidFill>
              </a:rPr>
              <a:t>Engagement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Email open rate: </a:t>
            </a:r>
            <a:r>
              <a:rPr b="1" lang="en" sz="2539">
                <a:solidFill>
                  <a:schemeClr val="dk1"/>
                </a:solidFill>
              </a:rPr>
              <a:t>15.89%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Support calls: </a:t>
            </a:r>
            <a:r>
              <a:rPr b="1" lang="en" sz="2539">
                <a:solidFill>
                  <a:schemeClr val="dk1"/>
                </a:solidFill>
              </a:rPr>
              <a:t>6.90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Low social + app usage</a:t>
            </a:r>
            <a:endParaRPr sz="253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314"/>
              <a:buFont typeface="Arial"/>
              <a:buNone/>
            </a:pPr>
            <a:r>
              <a:rPr b="1" lang="en" sz="2539">
                <a:solidFill>
                  <a:schemeClr val="dk1"/>
                </a:solidFill>
              </a:rPr>
              <a:t>Value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AOV: </a:t>
            </a:r>
            <a:r>
              <a:rPr b="1" lang="en" sz="2539">
                <a:solidFill>
                  <a:schemeClr val="dk1"/>
                </a:solidFill>
              </a:rPr>
              <a:t>$134.76</a:t>
            </a:r>
            <a:endParaRPr b="1" sz="2539">
              <a:solidFill>
                <a:schemeClr val="dk1"/>
              </a:solidFill>
            </a:endParaRPr>
          </a:p>
          <a:p>
            <a:pPr indent="-3293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39">
                <a:solidFill>
                  <a:schemeClr val="dk1"/>
                </a:solidFill>
              </a:rPr>
              <a:t>LTV: </a:t>
            </a:r>
            <a:r>
              <a:rPr b="1" lang="en" sz="2539">
                <a:solidFill>
                  <a:schemeClr val="dk1"/>
                </a:solidFill>
              </a:rPr>
              <a:t>$1,425.42</a:t>
            </a:r>
            <a:endParaRPr b="1" sz="253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7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  <a:solidFill>
            <a:srgbClr val="9AD69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What the Churned Persona Tells Us</a:t>
            </a:r>
            <a:endParaRPr/>
          </a:p>
        </p:txBody>
      </p:sp>
      <p:sp>
        <p:nvSpPr>
          <p:cNvPr id="497" name="Google Shape;497;p67"/>
          <p:cNvSpPr txBox="1"/>
          <p:nvPr>
            <p:ph idx="1" type="body"/>
          </p:nvPr>
        </p:nvSpPr>
        <p:spPr>
          <a:xfrm>
            <a:off x="311700" y="91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2262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15">
                <a:solidFill>
                  <a:schemeClr val="dk1"/>
                </a:solidFill>
              </a:rPr>
              <a:t>Customers </a:t>
            </a:r>
            <a:r>
              <a:rPr b="1" lang="en" sz="2115">
                <a:solidFill>
                  <a:schemeClr val="dk1"/>
                </a:solidFill>
              </a:rPr>
              <a:t>do buy</a:t>
            </a:r>
            <a:r>
              <a:rPr lang="en" sz="2115">
                <a:solidFill>
                  <a:schemeClr val="dk1"/>
                </a:solidFill>
              </a:rPr>
              <a:t>, but not often</a:t>
            </a:r>
            <a:br>
              <a:rPr lang="en" sz="2115">
                <a:solidFill>
                  <a:schemeClr val="dk1"/>
                </a:solidFill>
              </a:rPr>
            </a:br>
            <a:endParaRPr sz="2115">
              <a:solidFill>
                <a:schemeClr val="dk1"/>
              </a:solidFill>
            </a:endParaRPr>
          </a:p>
          <a:p>
            <a:pPr indent="-32262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15">
                <a:solidFill>
                  <a:schemeClr val="dk1"/>
                </a:solidFill>
              </a:rPr>
              <a:t>They engage lightly, then disappear</a:t>
            </a:r>
            <a:br>
              <a:rPr lang="en" sz="2115">
                <a:solidFill>
                  <a:schemeClr val="dk1"/>
                </a:solidFill>
              </a:rPr>
            </a:br>
            <a:endParaRPr sz="2115">
              <a:solidFill>
                <a:schemeClr val="dk1"/>
              </a:solidFill>
            </a:endParaRPr>
          </a:p>
          <a:p>
            <a:pPr indent="-32262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15">
                <a:solidFill>
                  <a:schemeClr val="dk1"/>
                </a:solidFill>
              </a:rPr>
              <a:t>High support calls signal </a:t>
            </a:r>
            <a:r>
              <a:rPr b="1" lang="en" sz="2115">
                <a:solidFill>
                  <a:schemeClr val="dk1"/>
                </a:solidFill>
              </a:rPr>
              <a:t>confusion or friction</a:t>
            </a:r>
            <a:br>
              <a:rPr b="1" lang="en" sz="2115">
                <a:solidFill>
                  <a:schemeClr val="dk1"/>
                </a:solidFill>
              </a:rPr>
            </a:br>
            <a:endParaRPr b="1" sz="2115">
              <a:solidFill>
                <a:schemeClr val="dk1"/>
              </a:solidFill>
            </a:endParaRPr>
          </a:p>
          <a:p>
            <a:pPr indent="-32262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15">
                <a:solidFill>
                  <a:schemeClr val="dk1"/>
                </a:solidFill>
              </a:rPr>
              <a:t>Churn is driven by </a:t>
            </a:r>
            <a:r>
              <a:rPr b="1" lang="en" sz="2115">
                <a:solidFill>
                  <a:schemeClr val="dk1"/>
                </a:solidFill>
              </a:rPr>
              <a:t>low clarity</a:t>
            </a:r>
            <a:r>
              <a:rPr lang="en" sz="2115">
                <a:solidFill>
                  <a:schemeClr val="dk1"/>
                </a:solidFill>
              </a:rPr>
              <a:t>, not low value</a:t>
            </a:r>
            <a:br>
              <a:rPr lang="en" sz="2115">
                <a:solidFill>
                  <a:schemeClr val="dk1"/>
                </a:solidFill>
              </a:rPr>
            </a:br>
            <a:endParaRPr sz="21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002"/>
              <a:buFont typeface="Arial"/>
              <a:buNone/>
            </a:pPr>
            <a:r>
              <a:rPr b="1" lang="en" sz="2115">
                <a:solidFill>
                  <a:schemeClr val="dk1"/>
                </a:solidFill>
              </a:rPr>
              <a:t>Insight:</a:t>
            </a:r>
            <a:br>
              <a:rPr b="1" lang="en" sz="2115">
                <a:solidFill>
                  <a:schemeClr val="dk1"/>
                </a:solidFill>
              </a:rPr>
            </a:br>
            <a:r>
              <a:rPr lang="en" sz="2115">
                <a:solidFill>
                  <a:schemeClr val="dk1"/>
                </a:solidFill>
              </a:rPr>
              <a:t> This customer doesn’t leave because of price.</a:t>
            </a:r>
            <a:br>
              <a:rPr lang="en" sz="2115">
                <a:solidFill>
                  <a:schemeClr val="dk1"/>
                </a:solidFill>
              </a:rPr>
            </a:br>
            <a:r>
              <a:rPr lang="en" sz="2115">
                <a:solidFill>
                  <a:schemeClr val="dk1"/>
                </a:solidFill>
              </a:rPr>
              <a:t> She leaves because the platform feels hard to use.</a:t>
            </a:r>
            <a:endParaRPr sz="21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8"/>
          <p:cNvSpPr txBox="1"/>
          <p:nvPr>
            <p:ph type="title"/>
          </p:nvPr>
        </p:nvSpPr>
        <p:spPr>
          <a:xfrm>
            <a:off x="389625" y="113825"/>
            <a:ext cx="8520600" cy="572700"/>
          </a:xfrm>
          <a:prstGeom prst="rect">
            <a:avLst/>
          </a:prstGeom>
          <a:solidFill>
            <a:srgbClr val="9AD6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729"/>
              <a:t>Loyal Buyer Persona (Who Stays)</a:t>
            </a:r>
            <a:endParaRPr b="1" sz="1729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530"/>
          </a:p>
        </p:txBody>
      </p:sp>
      <p:sp>
        <p:nvSpPr>
          <p:cNvPr id="503" name="Google Shape;503;p68"/>
          <p:cNvSpPr txBox="1"/>
          <p:nvPr>
            <p:ph idx="1" type="body"/>
          </p:nvPr>
        </p:nvSpPr>
        <p:spPr>
          <a:xfrm>
            <a:off x="2519775" y="784475"/>
            <a:ext cx="4260300" cy="42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Behavior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12.64 logins / month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29.21 min per session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9.30 pages per visit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Purchases every </a:t>
            </a:r>
            <a:r>
              <a:rPr b="1" lang="en" sz="1400">
                <a:solidFill>
                  <a:schemeClr val="dk1"/>
                </a:solidFill>
              </a:rPr>
              <a:t>26.89 days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Engagement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Email open rate: </a:t>
            </a:r>
            <a:r>
              <a:rPr b="1" lang="en" sz="1400">
                <a:solidFill>
                  <a:schemeClr val="dk1"/>
                </a:solidFill>
              </a:rPr>
              <a:t>22.93%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 calls: </a:t>
            </a:r>
            <a:r>
              <a:rPr b="1" lang="en" sz="1400">
                <a:solidFill>
                  <a:schemeClr val="dk1"/>
                </a:solidFill>
              </a:rPr>
              <a:t>5.19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Strong social + app usage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Value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AOV: </a:t>
            </a:r>
            <a:r>
              <a:rPr b="1" lang="en" sz="1400">
                <a:solidFill>
                  <a:schemeClr val="dk1"/>
                </a:solidFill>
              </a:rPr>
              <a:t>$118.38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LTV: </a:t>
            </a:r>
            <a:r>
              <a:rPr b="1" lang="en" sz="1400">
                <a:solidFill>
                  <a:schemeClr val="dk1"/>
                </a:solidFill>
              </a:rPr>
              <a:t>$1,446.81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9"/>
          <p:cNvSpPr txBox="1"/>
          <p:nvPr>
            <p:ph type="title"/>
          </p:nvPr>
        </p:nvSpPr>
        <p:spPr>
          <a:xfrm>
            <a:off x="311700" y="308200"/>
            <a:ext cx="8520600" cy="572700"/>
          </a:xfrm>
          <a:prstGeom prst="rect">
            <a:avLst/>
          </a:prstGeom>
          <a:solidFill>
            <a:srgbClr val="9AD69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Key Comparison (Churn vs Loyal)</a:t>
            </a:r>
            <a:endParaRPr sz="1800"/>
          </a:p>
        </p:txBody>
      </p:sp>
      <p:sp>
        <p:nvSpPr>
          <p:cNvPr id="509" name="Google Shape;509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Loyal users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Log in more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Explore more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Buy more often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Need less support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Churned users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Spend </a:t>
            </a:r>
            <a:r>
              <a:rPr b="1" lang="en" sz="1400">
                <a:solidFill>
                  <a:schemeClr val="dk1"/>
                </a:solidFill>
              </a:rPr>
              <a:t>more per order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But feel unsure and disengaged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Core churn driver: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Low engagement + high friction, not low spending.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0"/>
          <p:cNvSpPr txBox="1"/>
          <p:nvPr>
            <p:ph type="title"/>
          </p:nvPr>
        </p:nvSpPr>
        <p:spPr>
          <a:xfrm>
            <a:off x="357325" y="171375"/>
            <a:ext cx="8520600" cy="572700"/>
          </a:xfrm>
          <a:prstGeom prst="rect">
            <a:avLst/>
          </a:prstGeom>
          <a:solidFill>
            <a:srgbClr val="B6ABF9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729"/>
              <a:t>Content Strategy (Retention, Not Marketing)</a:t>
            </a:r>
            <a:endParaRPr sz="2520"/>
          </a:p>
        </p:txBody>
      </p:sp>
      <p:sp>
        <p:nvSpPr>
          <p:cNvPr id="515" name="Google Shape;515;p70"/>
          <p:cNvSpPr txBox="1"/>
          <p:nvPr>
            <p:ph idx="1" type="body"/>
          </p:nvPr>
        </p:nvSpPr>
        <p:spPr>
          <a:xfrm>
            <a:off x="2441850" y="923525"/>
            <a:ext cx="4260300" cy="3956400"/>
          </a:xfrm>
          <a:prstGeom prst="rect">
            <a:avLst/>
          </a:prstGeom>
          <a:solidFill>
            <a:srgbClr val="D5E7D7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Why content matters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Churned users still show purchase intent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They need </a:t>
            </a:r>
            <a:r>
              <a:rPr b="1" lang="en" sz="1600">
                <a:solidFill>
                  <a:schemeClr val="dk1"/>
                </a:solidFill>
              </a:rPr>
              <a:t>guidance</a:t>
            </a:r>
            <a:r>
              <a:rPr lang="en" sz="1600">
                <a:solidFill>
                  <a:schemeClr val="dk1"/>
                </a:solidFill>
              </a:rPr>
              <a:t>, not promotions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Content goals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 confusion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Increase confidence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Shorten time between purchases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Lower support dependency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311700" y="143050"/>
            <a:ext cx="8520600" cy="572700"/>
          </a:xfrm>
          <a:prstGeom prst="rect">
            <a:avLst/>
          </a:prstGeom>
          <a:solidFill>
            <a:srgbClr val="B6ABF9"/>
          </a:solidFill>
          <a:ln cap="flat" cmpd="sng" w="9525">
            <a:solidFill>
              <a:srgbClr val="969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Where Content Is Used (What &amp; Why)</a:t>
            </a:r>
            <a:endParaRPr b="1" sz="1700"/>
          </a:p>
        </p:txBody>
      </p:sp>
      <p:sp>
        <p:nvSpPr>
          <p:cNvPr id="521" name="Google Shape;521;p71"/>
          <p:cNvSpPr txBox="1"/>
          <p:nvPr>
            <p:ph idx="1" type="body"/>
          </p:nvPr>
        </p:nvSpPr>
        <p:spPr>
          <a:xfrm>
            <a:off x="2441850" y="914850"/>
            <a:ext cx="4260300" cy="3663000"/>
          </a:xfrm>
          <a:prstGeom prst="rect">
            <a:avLst/>
          </a:prstGeom>
          <a:solidFill>
            <a:srgbClr val="D5E7D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Blog (Mid–Bottom Funnel)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Product usage clarity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Common issues &amp; fixes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Purchase decision support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Email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Short, educational, value-based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Feature reminders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“Before you contact support” guidance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In-App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Tooltips and walkthroughs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Inactivity prompts after long gaps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Real-time friction removal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311700" y="285400"/>
            <a:ext cx="8520600" cy="572700"/>
          </a:xfrm>
          <a:prstGeom prst="rect">
            <a:avLst/>
          </a:prstGeom>
          <a:solidFill>
            <a:srgbClr val="B6ABF9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729"/>
              <a:t>Reducing Support Calls Through Content</a:t>
            </a:r>
            <a:endParaRPr b="1" sz="1729"/>
          </a:p>
        </p:txBody>
      </p:sp>
      <p:sp>
        <p:nvSpPr>
          <p:cNvPr id="527" name="Google Shape;527;p72"/>
          <p:cNvSpPr txBox="1"/>
          <p:nvPr>
            <p:ph idx="1" type="body"/>
          </p:nvPr>
        </p:nvSpPr>
        <p:spPr>
          <a:xfrm>
            <a:off x="2441850" y="1014725"/>
            <a:ext cx="4260300" cy="3922200"/>
          </a:xfrm>
          <a:prstGeom prst="rect">
            <a:avLst/>
          </a:prstGeom>
          <a:solidFill>
            <a:srgbClr val="D5E7D7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Churned users make </a:t>
            </a:r>
            <a:r>
              <a:rPr b="1" lang="en">
                <a:solidFill>
                  <a:schemeClr val="dk1"/>
                </a:solidFill>
              </a:rPr>
              <a:t>6.90 calls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Loyal users make </a:t>
            </a:r>
            <a:r>
              <a:rPr b="1" lang="en">
                <a:solidFill>
                  <a:schemeClr val="dk1"/>
                </a:solidFill>
              </a:rPr>
              <a:t>5.19 calls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Content replaces support by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Answering repeat questions early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Preventing confusion in-app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Offering self-serve help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Result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Lower frustration → lower churn risk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3"/>
          <p:cNvSpPr txBox="1"/>
          <p:nvPr>
            <p:ph type="title"/>
          </p:nvPr>
        </p:nvSpPr>
        <p:spPr>
          <a:xfrm>
            <a:off x="311700" y="104075"/>
            <a:ext cx="8520600" cy="572700"/>
          </a:xfrm>
          <a:prstGeom prst="rect">
            <a:avLst/>
          </a:prstGeom>
          <a:solidFill>
            <a:srgbClr val="D5E7D7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Cross-Department Impact</a:t>
            </a:r>
            <a:endParaRPr b="1" sz="1700"/>
          </a:p>
        </p:txBody>
      </p:sp>
      <p:sp>
        <p:nvSpPr>
          <p:cNvPr id="533" name="Google Shape;533;p73"/>
          <p:cNvSpPr txBox="1"/>
          <p:nvPr>
            <p:ph idx="1" type="body"/>
          </p:nvPr>
        </p:nvSpPr>
        <p:spPr>
          <a:xfrm>
            <a:off x="2270850" y="802125"/>
            <a:ext cx="4602300" cy="4110900"/>
          </a:xfrm>
          <a:prstGeom prst="rect">
            <a:avLst/>
          </a:prstGeom>
          <a:solidFill>
            <a:srgbClr val="F1C2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Marketing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Trigger retention campaigns before churn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Segment by engagement decline, not discounts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Customer Success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Identify high-risk users early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Shift from reactive to proactive support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Sales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Upsell loyal, high-LTV users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Avoid pushing churn-risk users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Product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Fix usability gaps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Improve onboarding and feature clarity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4"/>
          <p:cNvSpPr txBox="1"/>
          <p:nvPr>
            <p:ph type="title"/>
          </p:nvPr>
        </p:nvSpPr>
        <p:spPr>
          <a:xfrm>
            <a:off x="1470750" y="456425"/>
            <a:ext cx="6202500" cy="572700"/>
          </a:xfrm>
          <a:prstGeom prst="rect">
            <a:avLst/>
          </a:prstGeom>
          <a:solidFill>
            <a:srgbClr val="D999D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Final Takeaway</a:t>
            </a:r>
            <a:endParaRPr/>
          </a:p>
        </p:txBody>
      </p:sp>
      <p:sp>
        <p:nvSpPr>
          <p:cNvPr id="539" name="Google Shape;539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Churned users are </a:t>
            </a:r>
            <a:r>
              <a:rPr b="1" lang="en" sz="1400">
                <a:solidFill>
                  <a:schemeClr val="dk1"/>
                </a:solidFill>
              </a:rPr>
              <a:t>valuable but disengaged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Personas explain </a:t>
            </a:r>
            <a:r>
              <a:rPr b="1" lang="en" sz="1400">
                <a:solidFill>
                  <a:schemeClr val="dk1"/>
                </a:solidFill>
              </a:rPr>
              <a:t>why churn happens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Content becomes a </a:t>
            </a:r>
            <a:r>
              <a:rPr b="1" lang="en" sz="1400">
                <a:solidFill>
                  <a:schemeClr val="dk1"/>
                </a:solidFill>
              </a:rPr>
              <a:t>retention tool</a:t>
            </a:r>
            <a:r>
              <a:rPr lang="en" sz="1400">
                <a:solidFill>
                  <a:schemeClr val="dk1"/>
                </a:solidFill>
              </a:rPr>
              <a:t>, not noise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→ Personas → Actions → Business impact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This project shows how analytics supports real decisions, not just dashboards.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